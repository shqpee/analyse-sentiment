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366F1"/>
                </a:solidFill>
                <a:latin typeface="Calibri"/>
              </a:rPr>
              <a:t>TITRE PROFESSIONNEL RNCP37827  ·  NIVEAU 6 (BAC+3/4)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C7CBF5"/>
                </a:solidFill>
                <a:latin typeface="Calibri"/>
              </a:rPr>
              <a:t>Développeur en Intelligence Artificielle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Calibri"/>
              </a:rPr>
              <a:t>Analyseur de sentiment d'avis clients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566160"/>
            <a:ext cx="228600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2062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Caroline Bacheron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54880"/>
            <a:ext cx="6400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7CBF5"/>
                </a:solidFill>
                <a:latin typeface="Calibri"/>
              </a:rPr>
              <a:t>Pipeline complet : collecte → modèle IA → application web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C7CBF5"/>
                </a:solidFill>
                <a:latin typeface="Calibri"/>
              </a:rPr>
              <a:t>Modèle de production : XGBoost (TF-IDF) entraîné en français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2286000"/>
            <a:ext cx="2468880" cy="246888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🖼  ENCART IMAGE</a:t>
            </a:r>
          </a:p>
          <a:p>
            <a:pPr algn="ctr"/>
            <a:r>
              <a:rPr sz="1100" i="1">
                <a:solidFill>
                  <a:srgbClr val="6B7280"/>
                </a:solidFill>
              </a:rPr>
              <a:t>Photo / logo Simplon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(à insérer)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484632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Accompagnée par :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7CBF5"/>
                </a:solidFill>
                <a:latin typeface="Calibri"/>
              </a:rPr>
              <a:t>W. Ben Chelbi · A. Sakhri · G. Soulat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366F1"/>
                </a:solidFill>
                <a:latin typeface="Calibri"/>
              </a:rPr>
              <a:t>PRÉSENTATION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Le contexte et la chaîne de bout en bout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394960" cy="18288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19072"/>
            <a:ext cx="499262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366F1"/>
                </a:solidFill>
              </a:rPr>
              <a:t>Le besoin métier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Une entreprise e-commerce reçoit des centaines d'avis clients.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Les lire un par un est lent et coûteux.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Objectif : détecter automatiquement si un avis est positif ou négatif, en français.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20440"/>
            <a:ext cx="5394960" cy="23774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685032"/>
            <a:ext cx="4992624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8B5CF6"/>
                </a:solidFill>
              </a:rPr>
              <a:t>Ce que j'ai construit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Pipeline : collecte → nettoyage → base de données.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Deux APIs REST (données + modèle IA) sécurisées par clé API.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Une application web Streamlit pour l'utilisateur final.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Modèle XGBoost FR servi par l'API, suivi dans MLflow.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Le tout testé, conteneurisé (Docker) et supervisé (Prometheus/Grafana).</a:t>
            </a:r>
          </a:p>
        </p:txBody>
      </p:sp>
      <p:sp>
        <p:nvSpPr>
          <p:cNvPr id="9" name="Oval 8"/>
          <p:cNvSpPr/>
          <p:nvPr/>
        </p:nvSpPr>
        <p:spPr>
          <a:xfrm>
            <a:off x="6309360" y="155448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6002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Collecte (CSV · API REST · scraping)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0" y="242316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4688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Nettoyage &amp; RGPD (doublons, anonymisation)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0" y="3291840"/>
            <a:ext cx="457200" cy="4572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3375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Base de données SQLite (Merise)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416052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2062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APIs REST FastAPI (données + modèle IA)</a:t>
            </a:r>
          </a:p>
        </p:txBody>
      </p:sp>
      <p:sp>
        <p:nvSpPr>
          <p:cNvPr id="17" name="Oval 16"/>
          <p:cNvSpPr/>
          <p:nvPr/>
        </p:nvSpPr>
        <p:spPr>
          <a:xfrm>
            <a:off x="6309360" y="5029200"/>
            <a:ext cx="457200" cy="45720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507492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Application Streamlit (analyse temps réel)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366F1"/>
                </a:solidFill>
                <a:latin typeface="Calibri"/>
              </a:rPr>
              <a:t>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Pourquoi automatiser l'analyse des avis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35204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3520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E11D48"/>
                </a:solidFill>
                <a:latin typeface="Calibri"/>
              </a:rPr>
              <a:t>100s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d'avis / mois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19" y="1645920"/>
            <a:ext cx="35204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19" y="1828800"/>
            <a:ext cx="3520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F59E0B"/>
                </a:solidFill>
                <a:latin typeface="Calibri"/>
              </a:rPr>
              <a:t>2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19" y="269748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Positif / Négatif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8" y="1645920"/>
            <a:ext cx="35204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8" y="1828800"/>
            <a:ext cx="3520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6366F1"/>
                </a:solidFill>
                <a:latin typeface="Calibri"/>
              </a:rPr>
              <a:t>&lt; 2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8" y="2697480"/>
            <a:ext cx="3520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par prédiction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10835640" cy="210312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730752"/>
            <a:ext cx="1043330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366F1"/>
                </a:solidFill>
              </a:rPr>
              <a:t>Le constat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Lire et trier manuellement des centaines d'avis est lent, coûteux et peu reproductible.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Le besoin : un service fiable qui classe un avis en français en moins de 2 secondes.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Enjeux : confidentialité des données (RGPD), souveraineté (modèle local) et traçabilité du modèle.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Cible : e-commerçants, service client, équipes produit et analystes.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366F1"/>
                </a:solidFill>
                <a:latin typeface="Calibri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Les 5 épreuves de la certification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11091672" cy="7772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19072"/>
            <a:ext cx="118872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801368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Collecte, stockage &amp; exposition des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82880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C1 → C5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180136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>
                <a:solidFill>
                  <a:srgbClr val="6366F1"/>
                </a:solidFill>
                <a:latin typeface="Calibri"/>
              </a:rPr>
              <a:t>15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87168"/>
            <a:ext cx="11091672" cy="7772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606040"/>
            <a:ext cx="1188720" cy="5486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688336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Le modèle IA et son exposition + démo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71576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C9 → C13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2688336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20 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74136"/>
            <a:ext cx="11091672" cy="7772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493008"/>
            <a:ext cx="1188720" cy="5486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575304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Conception &amp; industrialisation de l'app + démo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602736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C14 → C19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3575304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20 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61104"/>
            <a:ext cx="11091672" cy="7772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379976"/>
            <a:ext cx="1188720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462272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Veille, benchmark &amp; cahier des charges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4489704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C6 → C8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4462272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Calibri"/>
              </a:rPr>
              <a:t>15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48072"/>
            <a:ext cx="11091672" cy="7772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5266944"/>
            <a:ext cx="1188720" cy="548640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34924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Supervision &amp; gestion des incidents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5376672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C20 → C21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534924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1">
                <a:solidFill>
                  <a:srgbClr val="E11D48"/>
                </a:solidFill>
                <a:latin typeface="Calibri"/>
              </a:rPr>
              <a:t>10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377440"/>
            <a:ext cx="1828800" cy="11887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E1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6888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Collecte, stockage &amp; exposition des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35808" y="356616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7CBF5"/>
                </a:solidFill>
                <a:latin typeface="Calibri"/>
              </a:rPr>
              <a:t>Compétences C1 à C5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366F1"/>
                </a:solidFill>
                <a:latin typeface="Calibri"/>
              </a:rPr>
              <a:t>E1 ·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Objectifs et compétences couvertes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20440" cy="1874519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3118104" cy="1545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366F1"/>
                </a:solidFill>
              </a:rPr>
              <a:t>C1  </a:t>
            </a:r>
            <a:r>
              <a:rPr sz="1500" b="1">
                <a:solidFill>
                  <a:srgbClr val="6366F1"/>
                </a:solidFill>
              </a:rPr>
              <a:t>Extraction multi-sources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CSV + API REST + scraping BeautifulSoup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645920"/>
            <a:ext cx="3520440" cy="1874519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810512"/>
            <a:ext cx="3118104" cy="1545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366F1"/>
                </a:solidFill>
              </a:rPr>
              <a:t>C2  </a:t>
            </a:r>
            <a:r>
              <a:rPr sz="1500" b="1">
                <a:solidFill>
                  <a:srgbClr val="6366F1"/>
                </a:solidFill>
              </a:rPr>
              <a:t>Requêtes SQL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Jointures, agrégations, requêtes paramétrées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45920"/>
            <a:ext cx="3520440" cy="1874519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7" y="1810512"/>
            <a:ext cx="3118104" cy="1545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366F1"/>
                </a:solidFill>
              </a:rPr>
              <a:t>C3  </a:t>
            </a:r>
            <a:r>
              <a:rPr sz="1500" b="1">
                <a:solidFill>
                  <a:srgbClr val="6366F1"/>
                </a:solidFill>
              </a:rPr>
              <a:t>Nettoyage &amp; agrégation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Doublons, regex, RGPD, features qualité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40"/>
            <a:ext cx="3520440" cy="1874519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913632"/>
            <a:ext cx="3118104" cy="1545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366F1"/>
                </a:solidFill>
              </a:rPr>
              <a:t>C4  </a:t>
            </a:r>
            <a:r>
              <a:rPr sz="1500" b="1">
                <a:solidFill>
                  <a:srgbClr val="6366F1"/>
                </a:solidFill>
              </a:rPr>
              <a:t>Base de données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Modélisation Merise (MCD/MLD/MPD), SQLite, RGPD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3749040"/>
            <a:ext cx="3520440" cy="1874519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3913632"/>
            <a:ext cx="3118104" cy="1545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366F1"/>
                </a:solidFill>
              </a:rPr>
              <a:t>C5  </a:t>
            </a:r>
            <a:r>
              <a:rPr sz="1500" b="1">
                <a:solidFill>
                  <a:srgbClr val="6366F1"/>
                </a:solidFill>
              </a:rPr>
              <a:t>API REST Data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FastAPI, endpoints documentés Swagger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366F1"/>
                </a:solidFill>
                <a:latin typeface="Calibri"/>
              </a:rPr>
              <a:t>E1 · COLLECTE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C1 — Extraction depuis des sources hétérogènes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20440" cy="32918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3118104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366F1"/>
                </a:solidFill>
              </a:rPr>
              <a:t>C1  </a:t>
            </a:r>
            <a:r>
              <a:rPr sz="1500" b="1">
                <a:solidFill>
                  <a:srgbClr val="6366F1"/>
                </a:solidFill>
              </a:rPr>
              <a:t>3 sources collectées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Fichier CSV local (avis type Amazon / Fnac).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API REST publique (requests).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Scraping web (BeautifulSoup).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Harmonisation vers un schéma unique.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Fusion dans un seul DataFrame pandas.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645920"/>
            <a:ext cx="3520440" cy="32918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810512"/>
            <a:ext cx="3118104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B981"/>
                </a:solidFill>
              </a:rPr>
              <a:t>Bonnes pratiques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RGPD dès la collecte : données publiques et anonymes.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Sauvegarde des données brutes avant traitement.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Gestion des erreurs réseau (source ignorée si KO).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Code documenté et fonctions réutilisables.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45920"/>
            <a:ext cx="3657600" cy="329184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🖼  ENCART IMAGE</a:t>
            </a:r>
          </a:p>
          <a:p>
            <a:pPr algn="ctr"/>
            <a:r>
              <a:rPr sz="1100" i="1">
                <a:solidFill>
                  <a:srgbClr val="6B7280"/>
                </a:solidFill>
              </a:rPr>
              <a:t>Schéma des 3 sources / extrait de code collecte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(à insérer)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366F1"/>
                </a:solidFill>
                <a:latin typeface="Calibri"/>
              </a:rPr>
              <a:t>E1 · COLLECTE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C2 — Requêtes SQL d'extraction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029200" cy="18288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462686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366F1"/>
                </a:solidFill>
              </a:rPr>
              <a:t>C2  </a:t>
            </a:r>
            <a:r>
              <a:rPr sz="1500" b="1">
                <a:solidFill>
                  <a:srgbClr val="6366F1"/>
                </a:solidFill>
              </a:rPr>
              <a:t>Lecture &amp; jointures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SELECT + JOIN entre avis et produits.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Filtres produit, recherche LIKE, pagination LIMIT/OFFSET.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11880"/>
            <a:ext cx="5029200" cy="19202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776472"/>
            <a:ext cx="4626864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B8A6"/>
                </a:solidFill>
              </a:rPr>
              <a:t>Agrégations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GROUP BY produit / source.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COUNT, AVG, MIN, MAX, SUM.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% d'avis positifs (CASE WHEN).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645920"/>
            <a:ext cx="5760720" cy="38862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828800"/>
            <a:ext cx="53035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Requête paramétrée (anti-injection SQL)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SELECT p.nom AS produit,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      COUNT(a.id)       AS nb_avis,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      ROUND(AVG(a.note),2) AS note_moy,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      SUM(CASE WHEN a.note&gt;=4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          THEN 1 ELSE 0 END) AS positifs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FROM produits p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LEFT JOIN avis a ON a.produit_id = p.id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GROUP BY p.id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ORDER BY note_moy DESC;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# paramètre préparé -&gt; protège l'injection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conn.execute(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 "... WHERE p.nom = ?", (nom_produit,))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366F1"/>
                </a:solidFill>
                <a:latin typeface="Calibri"/>
              </a:rPr>
              <a:t>E1 · COLLECTE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C3 — Nettoyage &amp; agrégation des données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20440" cy="14630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828800"/>
            <a:ext cx="411480" cy="4114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1051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Doublons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Suppression sur le texte (drop_duplicates).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645920"/>
            <a:ext cx="3520440" cy="14630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4840" y="1828800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81051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Texte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2860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Regex, espaces, caractères spéciaux, max 1000 car.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645920"/>
            <a:ext cx="3520440" cy="14630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38159" y="1828800"/>
            <a:ext cx="411480" cy="4114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799" y="181051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2860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Validation : forcées dans la plage 1 à 5.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37560"/>
            <a:ext cx="3520440" cy="14630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352044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50215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RGPD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7764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Anonymisation auteurs : jean.dupont → jea*****.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337560"/>
            <a:ext cx="3520440" cy="14630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434840" y="3520440"/>
            <a:ext cx="411480" cy="41148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50215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97764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Normalisation au format ISO YYYY-MM-DD.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3337560"/>
            <a:ext cx="3520440" cy="14630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138159" y="3520440"/>
            <a:ext cx="411480" cy="4114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799" y="350215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2937"/>
                </a:solidFill>
                <a:latin typeface="Calibri"/>
              </a:rPr>
              <a:t>Vides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397764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Suppression des avis &lt; 10 caractères.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6126480"/>
            <a:ext cx="11091672" cy="5029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Puis une agrégation par produit (nb d'avis, note moyenne, % positifs) = 1er contrôle qualité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366F1"/>
                </a:solidFill>
                <a:latin typeface="Calibri"/>
              </a:rPr>
              <a:t>E1 · STOCKAGE BDD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C4 — Modélisation Merise &amp; base de données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20440" cy="32004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3118104" cy="287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366F1"/>
                </a:solidFill>
              </a:rPr>
              <a:t>C4  </a:t>
            </a:r>
            <a:r>
              <a:rPr sz="1500" b="1">
                <a:solidFill>
                  <a:srgbClr val="6366F1"/>
                </a:solidFill>
              </a:rPr>
              <a:t>Démarche Merise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MCD — entités métier et cardinalités.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MLD — tables relationnelles, clés primaires/étrangères.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MPD — implémentation SQLite (schema.sql).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645920"/>
            <a:ext cx="3520440" cy="32004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810512"/>
            <a:ext cx="3118104" cy="287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B8A6"/>
                </a:solidFill>
              </a:rPr>
              <a:t>La base (SQLite)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5 tables : produits, avis, predictions_sentiment, logs_api, consentements_rgpd.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Contraintes : CHECK note 1-5, clés étrangères.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Index + vue avis_avec_sentiment.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45920"/>
            <a:ext cx="3657600" cy="32004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7" y="1810512"/>
            <a:ext cx="3255264" cy="287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B981"/>
                </a:solidFill>
              </a:rPr>
              <a:t>Conformité RGPD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Minimisation : ni email, ni IP, ni nom complet.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Pseudonymisation des auteurs.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Durée de conservation (a_supprimer_le) + droit à l'oubli.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Table de consentements (Art. 30).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83480"/>
            <a:ext cx="11064240" cy="141732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🖼  ENCART IMAGE</a:t>
            </a:r>
          </a:p>
          <a:p>
            <a:pPr algn="ctr"/>
            <a:r>
              <a:rPr sz="1100" i="1">
                <a:solidFill>
                  <a:srgbClr val="6B7280"/>
                </a:solidFill>
              </a:rPr>
              <a:t>Diagramme MCD / MLD (depuis l'artefact)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(à insérer)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366F1"/>
                </a:solidFill>
                <a:latin typeface="Calibri"/>
              </a:rPr>
              <a:t>E1 · API REST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C5 — API REST des données avec FastAPI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120640" cy="18288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471830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6366F1"/>
                </a:solidFill>
              </a:rPr>
              <a:t>C5  </a:t>
            </a:r>
            <a:r>
              <a:rPr sz="1500" b="1">
                <a:solidFill>
                  <a:srgbClr val="6366F1"/>
                </a:solidFill>
              </a:rPr>
              <a:t>Ce que fait l'API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Expose avis et statistiques (HTTP/JSON).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Endpoints : /avis, /statistiques, /recherche, /produits, /logs.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Documentation Swagger automatique (/docs).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11880"/>
            <a:ext cx="5120640" cy="19202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776472"/>
            <a:ext cx="4718304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11D48"/>
                </a:solidFill>
              </a:rPr>
              <a:t>Sécurité &amp; robustesse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Authentification par clé API (X-API-Key).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Validation Pydantic des entrées/sorties.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Middleware qui journalise chaque requête.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5669280" cy="237744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82880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Un endpoint protégé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@app.get("/avis")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def lister_avis(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 limit: int = Query(20, ge=1, le=100),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 offset: int = 0,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 _key: str = Depends(verifier_api_key)):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 return queries.get_tous_les_avis(...)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4160520"/>
            <a:ext cx="5669280" cy="137160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🖼  ENCART IMAGE</a:t>
            </a:r>
          </a:p>
          <a:p>
            <a:pPr algn="ctr"/>
            <a:r>
              <a:rPr sz="1100" i="1">
                <a:solidFill>
                  <a:srgbClr val="6B7280"/>
                </a:solidFill>
              </a:rPr>
              <a:t>Capture Swagger /docs (API Données)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(à insérer)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377440"/>
            <a:ext cx="1828800" cy="11887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E3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6888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Le modèle IA et son exposition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35808" y="356616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7CBF5"/>
                </a:solidFill>
                <a:latin typeface="Calibri"/>
              </a:rPr>
              <a:t>Compétences C9 à C13  ·  avec démo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B5CF6"/>
                </a:solidFill>
                <a:latin typeface="Calibri"/>
              </a:rPr>
              <a:t>E3 ·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Objectifs et compétences couvertes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20440" cy="1874519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3118104" cy="1545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B5CF6"/>
                </a:solidFill>
              </a:rPr>
              <a:t>C9  </a:t>
            </a:r>
            <a:r>
              <a:rPr sz="1500" b="1">
                <a:solidFill>
                  <a:srgbClr val="8B5CF6"/>
                </a:solidFill>
              </a:rPr>
              <a:t>API du modèle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Endpoint /predict exposant le modèle (FastAPI)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645920"/>
            <a:ext cx="3520440" cy="1874519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810512"/>
            <a:ext cx="3118104" cy="1545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B5CF6"/>
                </a:solidFill>
              </a:rPr>
              <a:t>C10  </a:t>
            </a:r>
            <a:r>
              <a:rPr sz="1500" b="1">
                <a:solidFill>
                  <a:srgbClr val="8B5CF6"/>
                </a:solidFill>
              </a:rPr>
              <a:t>Intégration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Branchement de l'API dans l'app Streamlit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45920"/>
            <a:ext cx="3520440" cy="1874519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7" y="1810512"/>
            <a:ext cx="3118104" cy="1545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B5CF6"/>
                </a:solidFill>
              </a:rPr>
              <a:t>C11  </a:t>
            </a:r>
            <a:r>
              <a:rPr sz="1500" b="1">
                <a:solidFill>
                  <a:srgbClr val="8B5CF6"/>
                </a:solidFill>
              </a:rPr>
              <a:t>Modèle &amp; monitoring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Entraînement, métriques, MLflow, suivi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40"/>
            <a:ext cx="3520440" cy="1874519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913632"/>
            <a:ext cx="3118104" cy="1545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B5CF6"/>
                </a:solidFill>
              </a:rPr>
              <a:t>C12  </a:t>
            </a:r>
            <a:r>
              <a:rPr sz="1500" b="1">
                <a:solidFill>
                  <a:srgbClr val="8B5CF6"/>
                </a:solidFill>
              </a:rPr>
              <a:t>Tests automatisés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Suite pytest : modèle, APIs, logique métier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3749040"/>
            <a:ext cx="3520440" cy="1874519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3913632"/>
            <a:ext cx="3118104" cy="1545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B5CF6"/>
                </a:solidFill>
              </a:rPr>
              <a:t>C13  </a:t>
            </a:r>
            <a:r>
              <a:rPr sz="1500" b="1">
                <a:solidFill>
                  <a:srgbClr val="8B5CF6"/>
                </a:solidFill>
              </a:rPr>
              <a:t>Livraison continue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Git + CI/CD avec rapport d'évaluation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B5CF6"/>
                </a:solidFill>
                <a:latin typeface="Calibri"/>
              </a:rPr>
              <a:t>E3 · LE MODÈLE CHOISI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C11 — Du DistilBERT anglais au XGBoost français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94960" cy="19202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4992624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11D48"/>
                </a:solidFill>
              </a:rPr>
              <a:t>C11  </a:t>
            </a:r>
            <a:r>
              <a:rPr sz="1500" b="1">
                <a:solidFill>
                  <a:srgbClr val="E11D48"/>
                </a:solidFill>
              </a:rPr>
              <a:t>Le problème de cohérence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L'API servait DistilBERT (anglais, SST-2)…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…alors que le modèle entraîné était XGBoost en français.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Incohérence : prédictions peu fiables sur des avis FR.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5394960" cy="201168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822192"/>
            <a:ext cx="4992624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B981"/>
                </a:solidFill>
              </a:rPr>
              <a:t>La solution retenue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Modèle de production unifié : XGBoost (TF-IDF) entraîné en FR.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Servi par l'API /predict ET utilisé par le front.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Léger (~1,5 Mo), CPU pur, souverain (100 % local, RGPD).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Accuracy 0,84 · F1 0,84 · ROC-AUC 0,93 (jeu de test FR).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5486400" cy="402336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🖼  ENCART IMAGE</a:t>
            </a:r>
          </a:p>
          <a:p>
            <a:pPr algn="ctr"/>
            <a:r>
              <a:rPr sz="1100" i="1">
                <a:solidFill>
                  <a:srgbClr val="6B7280"/>
                </a:solidFill>
              </a:rPr>
              <a:t>Matrice de confusion XGBoost FR (depuis MLflow)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(à insérer)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B5CF6"/>
                </a:solidFill>
                <a:latin typeface="Calibri"/>
              </a:rPr>
              <a:t>E3 · BENCHMARK MODÈLES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C11 — Benchmark des modèles de sentiment FR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4937760" cy="406908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64792"/>
            <a:ext cx="4535424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B5CF6"/>
                </a:solidFill>
              </a:rPr>
              <a:t>C11  </a:t>
            </a:r>
            <a:r>
              <a:rPr sz="1500" b="1">
                <a:solidFill>
                  <a:srgbClr val="8B5CF6"/>
                </a:solidFill>
              </a:rPr>
              <a:t>Protocole comparatif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Même jeu de test français (split seed 42).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XGBoost FR vs modèles transformers, en zero-shot.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Métriques : accuracy, F1, ROC-AUC + latence.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Chaque modèle = 1 run MLflow ('benchmark-sentiment-fr').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3 enseignements :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1) L'ancien DistilBERT anglais s'effondre en FR (F1 0,38).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2) nlptown (multilingue) un peu plus précis… mais ~600× plus lent.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3) XGBoost FR = meilleur compromis précision / latence / RGPD.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600200"/>
            <a:ext cx="5943600" cy="50292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67335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Modèle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673352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673352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1673352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ms/avis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121408"/>
            <a:ext cx="5943600" cy="64008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226771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7280"/>
                </a:solidFill>
                <a:latin typeface="Calibri"/>
              </a:rPr>
              <a:t>nlptown (multilingue)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67712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0.857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267712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0.949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2267712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794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2779776"/>
            <a:ext cx="5943600" cy="640080"/>
          </a:xfrm>
          <a:prstGeom prst="rect">
            <a:avLst/>
          </a:prstGeom>
          <a:solidFill>
            <a:srgbClr val="E6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292608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Calibri"/>
              </a:rPr>
              <a:t>XGBoost (FR) — retenu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9260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0.831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9260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0.917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2926080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1.3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3438144"/>
            <a:ext cx="5943600" cy="64008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3584448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11D48"/>
                </a:solidFill>
                <a:latin typeface="Calibri"/>
              </a:rPr>
              <a:t>distilbert-en (ancien)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584448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0.381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3584448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0.649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3584448"/>
            <a:ext cx="1005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679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0" y="4114800"/>
            <a:ext cx="5943600" cy="155448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🖼  ENCART IMAGE</a:t>
            </a:r>
          </a:p>
          <a:p>
            <a:pPr algn="ctr"/>
            <a:r>
              <a:rPr sz="1100" i="1">
                <a:solidFill>
                  <a:srgbClr val="6B7280"/>
                </a:solidFill>
              </a:rPr>
              <a:t>Graphe F1 par modèle (benchmark_f1.png, MLflow)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(à insérer)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6126480"/>
            <a:ext cx="11091672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XGBoost FR : F1 0,83 · ROC-AUC 0,92 · 1,3 ms/avis — ~600× plus rapide que les transformers, 100% local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B5CF6"/>
                </a:solidFill>
                <a:latin typeface="Calibri"/>
              </a:rPr>
              <a:t>E3 · SUIVI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C11 — Fine-tuning (GridSearch), learning curve &amp; MLflow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029200" cy="18288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462686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B5CF6"/>
                </a:solidFill>
              </a:rPr>
              <a:t>C11  </a:t>
            </a:r>
            <a:r>
              <a:rPr sz="1500" b="1">
                <a:solidFill>
                  <a:srgbClr val="8B5CF6"/>
                </a:solidFill>
              </a:rPr>
              <a:t>Optimisation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GridSearchCV + validation croisée.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Grille : n_estimators, max_depth, learning_rate.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On garde best_params_ et best_score_.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11880"/>
            <a:ext cx="5029200" cy="19202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776472"/>
            <a:ext cx="4626864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4B8A6"/>
                </a:solidFill>
              </a:rPr>
              <a:t>Suivi MLflow (dockerisé)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Serveur MLflow dans docker-compose (port 5000).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Chaque run loggue params, métriques et artefacts.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Modèle + courbes + rapport sauvegardés et rechargeables.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645920"/>
            <a:ext cx="5760720" cy="388620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🖼  ENCART IMAGE</a:t>
            </a:r>
          </a:p>
          <a:p>
            <a:pPr algn="ctr"/>
            <a:r>
              <a:rPr sz="1100" i="1">
                <a:solidFill>
                  <a:srgbClr val="6B7280"/>
                </a:solidFill>
              </a:rPr>
              <a:t>Capture UI MLflow (runs / artefacts / learning curve)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(à insérer)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6126480"/>
            <a:ext cx="11091672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DÉMO — Ouvrir l'UI MLflow : comparer les runs, métriques et hyperparamètres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B5CF6"/>
                </a:solidFill>
                <a:latin typeface="Calibri"/>
              </a:rPr>
              <a:t>E3 · API REST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C9 — API REST exposant le modèle 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120640" cy="18288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471830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B5CF6"/>
                </a:solidFill>
              </a:rPr>
              <a:t>C9  </a:t>
            </a:r>
            <a:r>
              <a:rPr sz="1500" b="1">
                <a:solidFill>
                  <a:srgbClr val="8B5CF6"/>
                </a:solidFill>
              </a:rPr>
              <a:t>Endpoints exposés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POST /predict — sentiment d'un texte (label + score + durée).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POST /predict/batch — jusqu'à 10 textes.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GET /monitoring — statistiques d'utilisation.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11880"/>
            <a:ext cx="5120640" cy="19202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776472"/>
            <a:ext cx="4718304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11D48"/>
                </a:solidFill>
              </a:rPr>
              <a:t>Sécurité — OWASP API Top 10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Clé API obligatoire sur les routes sensibles (A01/A02).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Validation Pydantic des entrées (A03).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Limites sur le batch pour éviter les abus (A04).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5669280" cy="38862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828800"/>
            <a:ext cx="52120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Réponse de /predict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POST /predict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{ "texte": "Ce produit est excellent !" }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-&gt;{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 "label": "POSITIVE",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 "score": 0.97,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 "sentiment_fr": "Positif",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 "duree_ms": 12.6,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 "modele": "XGBoost (TF-IDF) - FR"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50408" y="1463040"/>
            <a:ext cx="1097280" cy="10972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1E1B4B"/>
                </a:solidFill>
                <a:latin typeface="Calibri"/>
              </a:rPr>
              <a:t>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889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DÉMONSTRATION LIVE — Modèle &amp;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0"/>
            <a:ext cx="121889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C7CBF5"/>
                </a:solidFill>
                <a:latin typeface="Calibri"/>
              </a:rPr>
              <a:t>1. Swagger /docs → s'authentifier (X-API-Key)   2. POST /predict sur un avis FR positif puis négatif</a:t>
            </a: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C7CBF5"/>
                </a:solidFill>
                <a:latin typeface="Calibri"/>
              </a:rPr>
              <a:t>3. Réponse 200 (label + score)   4. Entrée invalide → 422 (validation Pydantic)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B5CF6"/>
                </a:solidFill>
                <a:latin typeface="Calibri"/>
              </a:rPr>
              <a:t>E3 · INTÉGRATION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C10 — Intégrer le modèle dans l'application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120640" cy="38862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4718304" cy="3557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B5CF6"/>
                </a:solidFill>
              </a:rPr>
              <a:t>C10  </a:t>
            </a:r>
            <a:r>
              <a:rPr sz="1500" b="1">
                <a:solidFill>
                  <a:srgbClr val="8B5CF6"/>
                </a:solidFill>
              </a:rPr>
              <a:t>Du modèle à l'utilisateur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L'app Streamlit n'embarque pas le modèle : elle appelle /predict.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Architecture découplée : changer de modèle sans toucher au front.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La clé API est envoyée à chaque appel (champ dans la sidebar).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Affichage : sentiment, score de confiance, temps de traitement.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Mode batch : analyser plusieurs avis d'un coup.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645920"/>
            <a:ext cx="5669280" cy="38862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828800"/>
            <a:ext cx="52120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Appel de l'API depuis Streamlit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resultat = appeler_api(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 f"{API_MODELE_URL}/predict",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 methode="POST",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 donnees={"texte": texte})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if resultat["label"] == "POSITIVE":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 st.success(f"Positif - "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   f"{resultat['score']*100:.1f}%")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else: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 st.error("Négatif")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B5CF6"/>
                </a:solidFill>
                <a:latin typeface="Calibri"/>
              </a:rPr>
              <a:t>E3 ·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C12 — Tests automatisés avec pytest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120640" cy="19202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4718304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B5CF6"/>
                </a:solidFill>
              </a:rPr>
              <a:t>C12  </a:t>
            </a:r>
            <a:r>
              <a:rPr sz="1500" b="1">
                <a:solidFill>
                  <a:srgbClr val="8B5CF6"/>
                </a:solidFill>
              </a:rPr>
              <a:t>Ce que je teste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Les 2 APIs (test_model_api, test_data_api).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Le modèle XGBoost : pipeline, métriques, GridSearch, learning curve.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03320"/>
            <a:ext cx="5120640" cy="18288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867912"/>
            <a:ext cx="471830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B981"/>
                </a:solidFill>
              </a:rPr>
              <a:t>Bonnes pratiques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Fixtures : jeu de données jouet déterministe.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Tests rapides, isolés et reproductibles.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Couverture de code mesurée (pytest-cov).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5669280" cy="38862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828800"/>
            <a:ext cx="52120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Exécution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$ pytest tests/ -v --cov=.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test_data_api.py ......   [ 33%]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test_model_api.py .....   [ 66%]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test_xgboost_sentiment.py [100%]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=== passed in 6.4s ===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def test_metrics_keys():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 m = xs.evaluate_classification(...)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 assert "f1" in m and "roc_auc" in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B5CF6"/>
                </a:solidFill>
                <a:latin typeface="Calibri"/>
              </a:rPr>
              <a:t>E3 · VERSIONNAGE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C13 — Push GitHub &amp; intégration continue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20440" cy="32004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3118104" cy="287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8B5CF6"/>
                </a:solidFill>
              </a:rPr>
              <a:t>C13  </a:t>
            </a:r>
            <a:r>
              <a:rPr sz="1500" b="1">
                <a:solidFill>
                  <a:srgbClr val="8B5CF6"/>
                </a:solidFill>
              </a:rPr>
              <a:t>Git &amp; GitHub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Code versionné sur GitHub.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Commits conventionnels (feat:, fix:, test:).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Branches main / develop + Pull Requests.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.gitignore (cache, secrets, données lourdes).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645920"/>
            <a:ext cx="3520440" cy="32004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810512"/>
            <a:ext cx="3118104" cy="287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9E0B"/>
                </a:solidFill>
              </a:rPr>
              <a:t>CI au push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Workflow GitHub Actions à chaque push / PR.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Installe les dépendances, initialise la BDD.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Valide données + modèle, lance pytest.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45920"/>
            <a:ext cx="3657600" cy="32004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7" y="1810512"/>
            <a:ext cx="3255264" cy="287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B981"/>
                </a:solidFill>
              </a:rPr>
              <a:t>Pourquoi c'est important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Historique complet et traçable.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Collaboration et revue de code.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Chaque modification testée avant fusion.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983480"/>
            <a:ext cx="11064240" cy="141732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🖼  ENCART IMAGE</a:t>
            </a:r>
          </a:p>
          <a:p>
            <a:pPr algn="ctr"/>
            <a:r>
              <a:rPr sz="1100" i="1">
                <a:solidFill>
                  <a:srgbClr val="6B7280"/>
                </a:solidFill>
              </a:rPr>
              <a:t>Capture GitHub Actions (workflow vert)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(à insérer)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377440"/>
            <a:ext cx="1828800" cy="118872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E4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6888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Conception &amp; industrialisation de l'application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35808" y="356616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7CBF5"/>
                </a:solidFill>
                <a:latin typeface="Calibri"/>
              </a:rPr>
              <a:t>Compétences C14 à C19  ·  avec démo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E4 ·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Objectifs et compétences couvertes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20440" cy="1874519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3118104" cy="1545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B8A6"/>
                </a:solidFill>
              </a:rPr>
              <a:t>C14  </a:t>
            </a:r>
            <a:r>
              <a:rPr sz="1500" b="1">
                <a:solidFill>
                  <a:srgbClr val="14B8A6"/>
                </a:solidFill>
              </a:rPr>
              <a:t>Cadre technique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Stack et choix technologiques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645920"/>
            <a:ext cx="3520440" cy="1874519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810512"/>
            <a:ext cx="3118104" cy="1545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B8A6"/>
                </a:solidFill>
              </a:rPr>
              <a:t>C15  </a:t>
            </a:r>
            <a:r>
              <a:rPr sz="1500" b="1">
                <a:solidFill>
                  <a:srgbClr val="14B8A6"/>
                </a:solidFill>
              </a:rPr>
              <a:t>Architecture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Front / API / base de données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45920"/>
            <a:ext cx="3520440" cy="1874519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7" y="1810512"/>
            <a:ext cx="3118104" cy="1545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B8A6"/>
                </a:solidFill>
              </a:rPr>
              <a:t>C16-17  </a:t>
            </a:r>
            <a:r>
              <a:rPr sz="1500" b="1">
                <a:solidFill>
                  <a:srgbClr val="14B8A6"/>
                </a:solidFill>
              </a:rPr>
              <a:t>Développer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Agile + interface Streamlit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40"/>
            <a:ext cx="3520440" cy="1874519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913632"/>
            <a:ext cx="3118104" cy="1545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B8A6"/>
                </a:solidFill>
              </a:rPr>
              <a:t>C18  </a:t>
            </a:r>
            <a:r>
              <a:rPr sz="1500" b="1">
                <a:solidFill>
                  <a:srgbClr val="14B8A6"/>
                </a:solidFill>
              </a:rPr>
              <a:t>Tester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Tests applicatifs et CI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3749040"/>
            <a:ext cx="3520440" cy="1874519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3913632"/>
            <a:ext cx="3118104" cy="1545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B8A6"/>
                </a:solidFill>
              </a:rPr>
              <a:t>C19  </a:t>
            </a:r>
            <a:r>
              <a:rPr sz="1500" b="1">
                <a:solidFill>
                  <a:srgbClr val="14B8A6"/>
                </a:solidFill>
              </a:rPr>
              <a:t>Livrer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Docker + déploiement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E4 · CADRAGE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C14 — Les technologies utilisées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783080" cy="384048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Calibri"/>
              </a:rPr>
              <a:t>Développement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43200"/>
            <a:ext cx="1508760" cy="128016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🖼  ENCART IMAGE</a:t>
            </a:r>
          </a:p>
          <a:p>
            <a:pPr algn="ctr"/>
            <a:r>
              <a:rPr sz="1100" i="1">
                <a:solidFill>
                  <a:srgbClr val="6B7280"/>
                </a:solidFill>
              </a:rPr>
              <a:t>logos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(à insérer)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600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VS Code · Jupyter · GitHub · Trello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95728" y="1737360"/>
            <a:ext cx="1783080" cy="384048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1874519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Calibri"/>
              </a:rPr>
              <a:t>Données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2888" y="2743200"/>
            <a:ext cx="1508760" cy="128016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🖼  ENCART IMAGE</a:t>
            </a:r>
          </a:p>
          <a:p>
            <a:pPr algn="ctr"/>
            <a:r>
              <a:rPr sz="1100" i="1">
                <a:solidFill>
                  <a:srgbClr val="6B7280"/>
                </a:solidFill>
              </a:rPr>
              <a:t>logos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(à insérer)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4114800"/>
            <a:ext cx="1600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CSV · API REST · BeautifulSoup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2816" y="1737360"/>
            <a:ext cx="1783080" cy="384048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1874519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Calibri"/>
              </a:rPr>
              <a:t>Modélisation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2743200"/>
            <a:ext cx="1508760" cy="128016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🖼  ENCART IMAGE</a:t>
            </a:r>
          </a:p>
          <a:p>
            <a:pPr algn="ctr"/>
            <a:r>
              <a:rPr sz="1100" i="1">
                <a:solidFill>
                  <a:srgbClr val="6B7280"/>
                </a:solidFill>
              </a:rPr>
              <a:t>logos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(à insérer)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4114800"/>
            <a:ext cx="1600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scikit-learn · XGBoost · MLflow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9904" y="1737360"/>
            <a:ext cx="1783080" cy="384048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4" y="1874519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Calibri"/>
              </a:rPr>
              <a:t>Base de données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2743200"/>
            <a:ext cx="1508760" cy="128016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🖼  ENCART IMAGE</a:t>
            </a:r>
          </a:p>
          <a:p>
            <a:pPr algn="ctr"/>
            <a:r>
              <a:rPr sz="1100" i="1">
                <a:solidFill>
                  <a:srgbClr val="6B7280"/>
                </a:solidFill>
              </a:rPr>
              <a:t>logos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(à insérer)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4114800"/>
            <a:ext cx="1600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SQLite · SQL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36992" y="1737360"/>
            <a:ext cx="1783080" cy="384048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2" y="1874519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Calibri"/>
              </a:rPr>
              <a:t>API &amp; Interface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4152" y="2743200"/>
            <a:ext cx="1508760" cy="128016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🖼  ENCART IMAGE</a:t>
            </a:r>
          </a:p>
          <a:p>
            <a:pPr algn="ctr"/>
            <a:r>
              <a:rPr sz="1100" i="1">
                <a:solidFill>
                  <a:srgbClr val="6B7280"/>
                </a:solidFill>
              </a:rPr>
              <a:t>logos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(à insérer)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2" y="4114800"/>
            <a:ext cx="1600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FastAPI · Pydantic · Streamlit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1737360"/>
            <a:ext cx="1783080" cy="384048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1874519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4B8A6"/>
                </a:solidFill>
                <a:latin typeface="Calibri"/>
              </a:rPr>
              <a:t>Déploiement &amp; Monitoring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21240" y="2743200"/>
            <a:ext cx="1508760" cy="128016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🖼  ENCART IMAGE</a:t>
            </a:r>
          </a:p>
          <a:p>
            <a:pPr algn="ctr"/>
            <a:r>
              <a:rPr sz="1100" i="1">
                <a:solidFill>
                  <a:srgbClr val="6B7280"/>
                </a:solidFill>
              </a:rPr>
              <a:t>logos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(à insérer)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0"/>
            <a:ext cx="1600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Docker · Prometheus · Grafana · pytest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E4 · CADRAGE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C15 — Architecture : 6 services conteneurisés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204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520440" cy="50292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83664"/>
            <a:ext cx="3520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Streamlit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Port 8501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Frontend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828800"/>
            <a:ext cx="35204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79" y="1828800"/>
            <a:ext cx="352044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1883664"/>
            <a:ext cx="3520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API Modèle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2468880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Port 8000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2880360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XGBoost FR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8" y="1828800"/>
            <a:ext cx="35204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18" y="1828800"/>
            <a:ext cx="3520440" cy="5029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8" y="1883664"/>
            <a:ext cx="3520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API Données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8" y="2468880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Port 8001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8" y="2880360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BDD/SQL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57600"/>
            <a:ext cx="35204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657600"/>
            <a:ext cx="3520440" cy="502920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712464"/>
            <a:ext cx="3520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Prometheus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97680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Port 9090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09160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Métriques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79" y="3657600"/>
            <a:ext cx="35204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297679" y="3657600"/>
            <a:ext cx="352044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79" y="3712464"/>
            <a:ext cx="3520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Grafana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9" y="4297680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Port 3000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79" y="4709160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Dashboards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8" y="3657600"/>
            <a:ext cx="352044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18" y="3657600"/>
            <a:ext cx="352044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8" y="3712464"/>
            <a:ext cx="3520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MLflow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18" y="4297680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F2937"/>
                </a:solidFill>
                <a:latin typeface="Calibri"/>
              </a:rPr>
              <a:t>Port 5000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8" y="4709160"/>
            <a:ext cx="3520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Tracking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6126480"/>
            <a:ext cx="11091672" cy="50292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Architecture découplée : chaque service est isolé, remplaçable et orchestré par Docker Compose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E4 · SUIVI AGILE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C16 — Coordination en méthode Agile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120640" cy="22860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471830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B8A6"/>
                </a:solidFill>
              </a:rPr>
              <a:t>C16  </a:t>
            </a:r>
            <a:r>
              <a:rPr sz="1500" b="1">
                <a:solidFill>
                  <a:srgbClr val="14B8A6"/>
                </a:solidFill>
              </a:rPr>
              <a:t>4 sprints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Sprint 1 — Données (collecte, nettoyage, BDD).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Sprint 2 — APIs (données + modèle IA).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Sprint 3 — Frontend + tests + CI.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Sprint 4 — Docker, monitoring, documentation.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69080"/>
            <a:ext cx="5120640" cy="155448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4233672"/>
            <a:ext cx="4718304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9E0B"/>
                </a:solidFill>
              </a:rPr>
              <a:t>Rituels &amp; outils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GitHub Projects (Kanban) + Issues + Pull Requests.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Daily, sprint review, rétrospective.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5669280" cy="3977639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🖼  ENCART IMAGE</a:t>
            </a:r>
          </a:p>
          <a:p>
            <a:pPr algn="ctr"/>
            <a:r>
              <a:rPr sz="1100" i="1">
                <a:solidFill>
                  <a:srgbClr val="6B7280"/>
                </a:solidFill>
              </a:rPr>
              <a:t>Capture board Kanban (Trello / GitHub Projects)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(à insérer)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E4 ·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C17 — Application Streamlit (en français)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120640" cy="219456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471830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B8A6"/>
                </a:solidFill>
              </a:rPr>
              <a:t>C17  </a:t>
            </a:r>
            <a:r>
              <a:rPr sz="1500" b="1">
                <a:solidFill>
                  <a:srgbClr val="14B8A6"/>
                </a:solidFill>
              </a:rPr>
              <a:t>Les pages de l'app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Analyser un texte — saisie libre + résultat instantané.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Tableau de bord — métriques globales et graphiques.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Base de données — exploration, filtres, recherche, batch.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Authentification par clé API dans la barre latérale.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5120640" cy="164592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4142231"/>
            <a:ext cx="471830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B981"/>
                </a:solidFill>
              </a:rPr>
              <a:t>Conception &amp; qualité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Wireframes et parcours définis avant le code.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Accessibilité WCAG 2.1 AA (contrastes, labels).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Interface 100 % en français, modèle XGBoost FR.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5669280" cy="3977639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🖼  ENCART IMAGE</a:t>
            </a:r>
          </a:p>
          <a:p>
            <a:pPr algn="ctr"/>
            <a:r>
              <a:rPr sz="1100" i="1">
                <a:solidFill>
                  <a:srgbClr val="6B7280"/>
                </a:solidFill>
              </a:rPr>
              <a:t>Capture de l'app Streamlit (page Analyser)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(à insérer)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50408" y="1645920"/>
            <a:ext cx="1097280" cy="109728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1E1B4B"/>
                </a:solidFill>
                <a:latin typeface="Calibri"/>
              </a:rPr>
              <a:t>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121889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DÉMONSTRATION LIVE —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889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C7CBF5"/>
                </a:solidFill>
                <a:latin typeface="Calibri"/>
              </a:rPr>
              <a:t>Lancer l'app Streamlit → analyser un avis FR, parcourir le tableau de bord et la 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E4 ·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C18-C19 — Tests automatisés, Docker &amp; livraison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120640" cy="38862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4718304" cy="3557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4B8A6"/>
                </a:solidFill>
              </a:rPr>
              <a:t>C18-19  </a:t>
            </a:r>
            <a:r>
              <a:rPr sz="1500" b="1">
                <a:solidFill>
                  <a:srgbClr val="14B8A6"/>
                </a:solidFill>
              </a:rPr>
              <a:t>Pipeline CI + conteneurisation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GitHub Actions à chaque push / PR (lint, BDD, pytest, build).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Un Dockerfile par service + docker-compose.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Image API modèle allégée (XGBoost, sans torch).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requirements séparés : complet / API modèle / API données.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Versions figées pour la reproductibilité.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645920"/>
            <a:ext cx="5669280" cy="38862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828800"/>
            <a:ext cx="52120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Lancer toute la stack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$ docker compose up --build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 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OK api_modele   :8000  (XGBoost FR)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OK api_donnees  :8001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OK app (Streamlit):8501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OK prometheus   :9090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OK grafana      :3000</a:t>
            </a:r>
          </a:p>
          <a:p>
            <a:r>
              <a:rPr sz="1100">
                <a:solidFill>
                  <a:srgbClr val="86EFAC"/>
                </a:solidFill>
                <a:latin typeface="Consolas"/>
              </a:rPr>
              <a:t>OK mlflow       :5000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377440"/>
            <a:ext cx="1828800" cy="11887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E2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6888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Veille, benchmark &amp; cahier des charges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35808" y="356616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7CBF5"/>
                </a:solidFill>
                <a:latin typeface="Calibri"/>
              </a:rPr>
              <a:t>Compétences C6 à C8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E2 ·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Objectifs et compétences couvertes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611880" cy="27432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93392"/>
            <a:ext cx="3209544" cy="241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</a:rPr>
              <a:t>C6  </a:t>
            </a:r>
            <a:r>
              <a:rPr sz="1500" b="1">
                <a:solidFill>
                  <a:srgbClr val="F59E0B"/>
                </a:solidFill>
              </a:rPr>
              <a:t>Veille technique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Veille planifiée + analyse budgétaire, sources recoupées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828800"/>
            <a:ext cx="3611880" cy="27432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993392"/>
            <a:ext cx="3209544" cy="241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</a:rPr>
              <a:t>C7  </a:t>
            </a:r>
            <a:r>
              <a:rPr sz="1500" b="1">
                <a:solidFill>
                  <a:srgbClr val="F59E0B"/>
                </a:solidFill>
              </a:rPr>
              <a:t>Identifier le service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Benchmark services existants vs modèle sur mesure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828800"/>
            <a:ext cx="3611880" cy="27432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8" y="1993392"/>
            <a:ext cx="3209544" cy="241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</a:rPr>
              <a:t>C8  </a:t>
            </a:r>
            <a:r>
              <a:rPr sz="1500" b="1">
                <a:solidFill>
                  <a:srgbClr val="F59E0B"/>
                </a:solidFill>
              </a:rPr>
              <a:t>Paramétrer le service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Environnement Docker, dépendances, POC documenté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E2 · VEILLE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C6 — Veille technologique &amp; analyse budgétaire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120640" cy="18288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471830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</a:rPr>
              <a:t>C6  </a:t>
            </a:r>
            <a:r>
              <a:rPr sz="1500" b="1">
                <a:solidFill>
                  <a:srgbClr val="F59E0B"/>
                </a:solidFill>
              </a:rPr>
              <a:t>Organisation de la veille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Créneaux hebdomadaires (~1h/semaine).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Feedly (RSS), newsletters, GitHub Watch, LinkedIn.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Sources : HuggingFace, arXiv, Papers With Code, CNIL, AI 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11880"/>
            <a:ext cx="5120640" cy="19202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776472"/>
            <a:ext cx="4718304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B981"/>
                </a:solidFill>
              </a:rPr>
              <a:t>Veille réglementaire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RGPD : minimisation, droit à l'oubli, conservation.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AI Act : système à risque minimal (transparence).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5669280" cy="4572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71907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719072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Coût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2148840"/>
            <a:ext cx="5669280" cy="50292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24028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2937"/>
                </a:solidFill>
                <a:latin typeface="Calibri"/>
              </a:rPr>
              <a:t>Modèle local (XGBoost / HuggingFace)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24028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Calibri"/>
              </a:rPr>
              <a:t>0 € — open source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2670047"/>
            <a:ext cx="5669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761487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AWS Comprehend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761487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~0,01 $ / 1000 unités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191254"/>
            <a:ext cx="5669280" cy="50292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3282694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Google NLP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282694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~0,001 $ / requête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3712461"/>
            <a:ext cx="5669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3803901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Azure Text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803901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~0,001 $ / requête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4233668"/>
            <a:ext cx="5669280" cy="50292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432510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F2937"/>
                </a:solidFill>
                <a:latin typeface="Calibri"/>
              </a:rPr>
              <a:t>OpenAI GPT-4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4325108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élevé + hors 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6126480"/>
            <a:ext cx="11091672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Choix : modèle local — coût nul + souveraineté/RGPD totale (les avis ne quittent pas le serveur)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E2 ·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C7 — Benchmark des services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11064240" cy="50292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0" y="1645920"/>
            <a:ext cx="2926080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Critère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71907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Local (XGBoost FR)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71907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AWS / Google / Azure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1907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OpenAI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11064240" cy="64008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59152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3591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Gratuit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359152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~0,001-0,01 $/req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35915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Élevé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852928"/>
            <a:ext cx="11064240" cy="64008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01752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Précision (FR)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0175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~0,84 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017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0,85-0,92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01752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Élevée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11296"/>
            <a:ext cx="11064240" cy="64008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67588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Confidentialité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67588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Totale (local)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675888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Données → 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67588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Données → 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169664"/>
            <a:ext cx="11064240" cy="64008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334256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RGPD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334256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Optimal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334256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Hors UE possible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433425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Hors 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828032"/>
            <a:ext cx="11064240" cy="640080"/>
          </a:xfrm>
          <a:prstGeom prst="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992624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Éco-impact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992624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Très faible (CPU)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992624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Moyen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4992624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Élevé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6126480"/>
            <a:ext cx="11091672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Décision : modèle local XGBoost FR — souverain, gratuit, précis et sobre pour une classification binaire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Calibri"/>
              </a:rPr>
              <a:t>E2 · CAHIER DES CHARGES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C8 — Paramétrer &amp; cadrer le service 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20440" cy="32004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3118104" cy="287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</a:rPr>
              <a:t>C8  </a:t>
            </a:r>
            <a:r>
              <a:rPr sz="1500" b="1">
                <a:solidFill>
                  <a:srgbClr val="F59E0B"/>
                </a:solidFill>
              </a:rPr>
              <a:t>Paramétrage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Pipeline TF-IDF + XGBoost (joblib).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device CPU, modèle léger (~1,5 Mo).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Chargement au démarrage de l'API.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Variables d'env (clé API, URI MLflow).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645920"/>
            <a:ext cx="3520440" cy="32004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810512"/>
            <a:ext cx="3118104" cy="287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366F1"/>
                </a:solidFill>
              </a:rPr>
              <a:t>Exigences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Fonctionnelles : analyse &lt; 2s, stats, recherche, batch.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Non-fonctionnelles : RGPD, dispo &gt; 95%, Swagger, API Key, WCAG, OWASP.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45920"/>
            <a:ext cx="3657600" cy="32004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56447" y="1810512"/>
            <a:ext cx="3255264" cy="287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B981"/>
                </a:solidFill>
              </a:rPr>
              <a:t>Preuve de concept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F1 ~0,84 (seuil &gt; 0,80).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Latence faible (CPU).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Conformité RGPD totale.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Coût 0 €, stack Docker fonctionnelle.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→ Décision : passer en production.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377440"/>
            <a:ext cx="1828800" cy="1188720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E5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0" y="246888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Supervision &amp; gestion des incidents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35808" y="356616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7CBF5"/>
                </a:solidFill>
                <a:latin typeface="Calibri"/>
              </a:rPr>
              <a:t>Compétences C20 à C21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11D48"/>
                </a:solidFill>
                <a:latin typeface="Calibri"/>
              </a:rPr>
              <a:t>E5 ·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Objectifs et compétences couvertes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029200" cy="23774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993392"/>
            <a:ext cx="4626864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11D48"/>
                </a:solidFill>
              </a:rPr>
              <a:t>C20  </a:t>
            </a:r>
            <a:r>
              <a:rPr sz="1500" b="1">
                <a:solidFill>
                  <a:srgbClr val="E11D48"/>
                </a:solidFill>
              </a:rPr>
              <a:t>C20 — Surveiller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Monitorage + journalisation (RGPD).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Prometheus scrape /metrics toutes les 15s.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Grafana : dashboards temps réel.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Alerte sur seuils (erreurs, latence, drift).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029200" cy="237744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993392"/>
            <a:ext cx="4626864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</a:rPr>
              <a:t>C21  </a:t>
            </a:r>
            <a:r>
              <a:rPr sz="1500" b="1">
                <a:solidFill>
                  <a:srgbClr val="F59E0B"/>
                </a:solidFill>
              </a:rPr>
              <a:t>C21 — Résoudre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Identifier la cause racine.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Reproduire le problème.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Corriger le code et la configuration.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Documenter la solution (rapport d'incident).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11D48"/>
                </a:solidFill>
                <a:latin typeface="Calibri"/>
              </a:rPr>
              <a:t>E5 ·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C20 — Surveillance avec Prometheus &amp; Grafana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120640" cy="201168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10512"/>
            <a:ext cx="4718304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11D48"/>
                </a:solidFill>
              </a:rPr>
              <a:t>C20  </a:t>
            </a:r>
            <a:r>
              <a:rPr sz="1500" b="1">
                <a:solidFill>
                  <a:srgbClr val="E11D48"/>
                </a:solidFill>
              </a:rPr>
              <a:t>La chaîne de supervision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Chaque API expose /metrics (format Prometheus).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Prometheus scrape toutes les 15s.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Grafana : dashboards provisionnés automatiquement.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MLflow (port 5000) pour le suivi des modèles.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94760"/>
            <a:ext cx="5120640" cy="178308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959352"/>
            <a:ext cx="4718304" cy="1453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9E0B"/>
                </a:solidFill>
              </a:rPr>
              <a:t>Métriques &amp; seuils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Débit req/s, latence P50/P95, erreurs 4xx/5xx.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Volume de prédictions et répartition des classes.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Seuils WARNING / CRITIQUE documentés.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5669280" cy="393192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🖼  ENCART IMAGE</a:t>
            </a:r>
          </a:p>
          <a:p>
            <a:pPr algn="ctr"/>
            <a:r>
              <a:rPr sz="1100" i="1">
                <a:solidFill>
                  <a:srgbClr val="6B7280"/>
                </a:solidFill>
              </a:rPr>
              <a:t>Capture dashboard Grafana (rempli après trafic)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(à insérer)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698480" y="320040"/>
            <a:ext cx="914400" cy="457200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11D48"/>
                </a:solidFill>
                <a:latin typeface="Calibri"/>
              </a:rPr>
              <a:t>E5 · INCIDENT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2937"/>
                </a:solidFill>
                <a:latin typeface="Calibri"/>
              </a:rPr>
              <a:t>C21 — Incident résolu : « Grafana n'affiche rien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94960" cy="210312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19072"/>
            <a:ext cx="499262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11D48"/>
                </a:solidFill>
              </a:rPr>
              <a:t>C21  </a:t>
            </a:r>
            <a:r>
              <a:rPr sz="1500" b="1">
                <a:solidFill>
                  <a:srgbClr val="E11D48"/>
                </a:solidFill>
              </a:rPr>
              <a:t>1. Détection &amp; diagnostic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Dashboard Grafana vide sur tous les panels.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Datasource OK, dashboard provisionné, APIs healthy.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Requêtes PromQL renvoyaient des taux à 0 / NaN.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749039"/>
            <a:ext cx="5394960" cy="22860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913631"/>
            <a:ext cx="499262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366F1"/>
                </a:solidFill>
              </a:rPr>
              <a:t>3. Causes racines (3)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Aucun trafic : compteurs ~0 → rate() = 0 (rien à tracer).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Conteneur Prometheus périmé : port 9090 non publié.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Serveur MLflow bindé sur 127.0.0.1 (YAML mal plié) → injoignable depuis l'hôte.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54480"/>
            <a:ext cx="5486400" cy="210312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719072"/>
            <a:ext cx="508406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8B5CF6"/>
                </a:solidFill>
              </a:rPr>
              <a:t>2. Reproduction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Vérification des cibles Prometheus (up).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Inspection docker ps (ports) + docker logs.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Test /health depuis l'hôte vs dans le conteneur.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749039"/>
            <a:ext cx="5486400" cy="2286000"/>
          </a:xfrm>
          <a:prstGeom prst="roundRect">
            <a:avLst/>
          </a:prstGeom>
          <a:solidFill>
            <a:srgbClr val="EE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3913631"/>
            <a:ext cx="508406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0B981"/>
                </a:solidFill>
              </a:rPr>
              <a:t>4. Correction + doc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Génération de trafic (generer_trafic.py) → dashboards remplis.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Recréation du conteneur Prometheus (port publié).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Commande MLflow sur une seule ligne (host 0.0.0.0).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F2937"/>
                </a:solidFill>
              </a:rPr>
              <a:t>• Image MLflow dédiée pour un redémarrage rapide.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Un projet IA complet, de la donnée à la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1737360"/>
          </a:xfrm>
          <a:prstGeom prst="roundRect">
            <a:avLst/>
          </a:prstGeom>
          <a:solidFill>
            <a:srgbClr val="2A275E"/>
          </a:solidFill>
          <a:ln w="254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6366F1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compétences couvertes (C1 → C21)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011680"/>
            <a:ext cx="3383280" cy="1737360"/>
          </a:xfrm>
          <a:prstGeom prst="roundRect">
            <a:avLst/>
          </a:prstGeom>
          <a:solidFill>
            <a:srgbClr val="2A275E"/>
          </a:solidFill>
          <a:ln w="254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224028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8B5CF6"/>
                </a:solidFill>
                <a:latin typeface="Calibri"/>
              </a:rPr>
              <a:t>XGBoost FR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306324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modèle souverain, F1 ~0,84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011680"/>
            <a:ext cx="3383280" cy="1737360"/>
          </a:xfrm>
          <a:prstGeom prst="roundRect">
            <a:avLst/>
          </a:prstGeom>
          <a:solidFill>
            <a:srgbClr val="2A275E"/>
          </a:solidFill>
          <a:ln w="254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0" y="224028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14B8A6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306324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services orchestrés avec Docker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Pistes d'évolution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C7CBF5"/>
                </a:solidFill>
                <a:latin typeface="Calibri"/>
              </a:rPr>
              <a:t>CamemBERT / fine-tuning métier · calibration des probabilités · alertes Grafana · déploiement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Merci de votre attention — je reste à votre disposition pour vos questions.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889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Merci de votre écoute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61104" y="4206240"/>
            <a:ext cx="3657600" cy="182880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6B7280"/>
                </a:solidFill>
              </a:rPr>
              <a:t>🖼  ENCART IMAGE</a:t>
            </a:r>
          </a:p>
          <a:p>
            <a:pPr algn="ctr"/>
            <a:r>
              <a:rPr sz="1100" i="1">
                <a:solidFill>
                  <a:srgbClr val="6B7280"/>
                </a:solidFill>
              </a:rPr>
              <a:t>Visuel de clôture (optionnel)</a:t>
            </a:r>
          </a:p>
          <a:p>
            <a:pPr algn="ctr"/>
            <a:r>
              <a:rPr sz="900">
                <a:solidFill>
                  <a:srgbClr val="6B7280"/>
                </a:solidFill>
              </a:rPr>
              <a:t>(à insérer)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